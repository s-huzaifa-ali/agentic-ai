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48640" y="3246120"/>
            <a:ext cx="109728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74320"/>
            <a:ext cx="164592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1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FAIRGAME: a Framework for AI Agents Bias Recognition using Game Theory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Paper summary  |  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Syed Huzaifa Ali (23K-0004)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Why FAIRGAME? The problem</a:t>
            </a:r>
            <a:endParaRPr sz="2600"/>
          </a:p>
        </p:txBody>
      </p:sp>
      <p:sp>
        <p:nvSpPr>
          <p:cNvPr id="32" name="Google Shape;32;p6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LLM-powered agents increasingly interact with each other and with humans; hidden biases can skew strategic outcomes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theory models strategic interaction and gives predictions to compare against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Gap: no reproducible, standardised and user-friendly framework to test LLM agents in games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Contribution: FAIRGAME, an open-source framework to simulate games and compare LLMs, languages and personalities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proposes a four-metric scoring system to compare LLM behaviour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How FAIRGAME works</a:t>
            </a:r>
            <a:endParaRPr sz="2600"/>
          </a:p>
        </p:txBody>
      </p:sp>
      <p:sp>
        <p:nvSpPr>
          <p:cNvPr id="40" name="Google Shape;40;p7"/>
          <p:cNvSpPr/>
          <p:nvPr/>
        </p:nvSpPr>
        <p:spPr>
          <a:xfrm>
            <a:off x="45720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457200" y="1234440"/>
            <a:ext cx="2651760" cy="5029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54864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Inputs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54864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 configuration file: game, payoff matrix, rounds, LLM, languages, agent personalities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template: text description of the game, translatable into any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329184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3291840" y="1234440"/>
            <a:ext cx="2651760" cy="50292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338328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Factory and execution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338328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 validates the files and creates agents and game instances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 2 and 3 run the rounds: build prompt, agent picks a strategy, payoff and history are updated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LLM can be used through its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12648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621792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Outputs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21792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Standardised game histories and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with game-theoretic predictions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linguistic and social bias detection, jailbreaking simulations, emerging multi-agent behaviour, sentiment drift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Experimental setup</a:t>
            </a:r>
            <a:endParaRPr sz="2600"/>
          </a:p>
        </p:txBody>
      </p:sp>
      <p:sp>
        <p:nvSpPr>
          <p:cNvPr id="59" name="Google Shape;59;p8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548640" y="1572768"/>
            <a:ext cx="3840480" cy="36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 txBox="1"/>
          <p:nvPr/>
        </p:nvSpPr>
        <p:spPr>
          <a:xfrm>
            <a:off x="5486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Prisoner's Dilemma in three variants: conventional, harsh and mild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Battle of the Sexes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rounds per game; number of rounds known or unknown to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are cooperative or selfish and do not know the opponent's personality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46634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Agents and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4663440" y="1572768"/>
            <a:ext cx="3840480" cy="3657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46634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LLMs: Llama 3.1 405B, Mistral Large, GPT-4, Claude 3.5 Sonnet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Languages: English, French, Arabic, Vietnamese, Mandarin Chinese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 games per LLM, each repeated 10 times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72,000 individual decisions in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Findings and conclusions</a:t>
            </a:r>
            <a:endParaRPr sz="2600"/>
          </a:p>
        </p:txBody>
      </p:sp>
      <p:sp>
        <p:nvSpPr>
          <p:cNvPr id="72" name="Google Shape;72;p9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548640" y="1572768"/>
            <a:ext cx="3840480" cy="36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5486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mostly defect in the Prisoner's Dilemma, as theory predicts, but results vary with language and personality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Knowing the number of rounds promotes cooperation; harsh payoffs increase defection, mild payoffs increase cooperation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Battle of the Sexes: selfish personalities sharply reduce cooperation; Claude 3.5 Sonnet coordinates best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also draw on prior knowledge of the game, not only the payoffs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46634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4663440" y="1572768"/>
            <a:ext cx="3840480" cy="3657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/>
        </p:nvSpPr>
        <p:spPr>
          <a:xfrm>
            <a:off x="46634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FAIRGAME links LLMs and game theory in a reproducible pipeline for finding biases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Scoring metrics: internal variability, cross-language inconsistency, payoff sensitivity, variability over rounds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Future: other biases (nationality, gender, age), agent communication, more than two players, incomplete-information and sequential games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Summary">
  <a:themeElements>
    <a:clrScheme name="PaperSummary">
      <a:dk1>
        <a:srgbClr val="1F2933"/>
      </a:dk1>
      <a:lt1>
        <a:srgbClr val="FFFFFF"/>
      </a:lt1>
      <a:dk2>
        <a:srgbClr val="0B3C5D"/>
      </a:dk2>
      <a:lt2>
        <a:srgbClr val="EEF3F7"/>
      </a:lt2>
      <a:accent1>
        <a:srgbClr val="1D7874"/>
      </a:accent1>
      <a:accent2>
        <a:srgbClr val="E07A1F"/>
      </a:accent2>
      <a:accent3>
        <a:srgbClr val="3E7CB1"/>
      </a:accent3>
      <a:accent4>
        <a:srgbClr val="6B4E9B"/>
      </a:accent4>
      <a:accent5>
        <a:srgbClr val="B23A48"/>
      </a:accent5>
      <a:accent6>
        <a:srgbClr val="5B8C5A"/>
      </a:accent6>
      <a:hlink>
        <a:srgbClr val="3E7CB1"/>
      </a:hlink>
      <a:folHlink>
        <a:srgbClr val="6B4E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Summary">
  <a:themeElements>
    <a:clrScheme name="PaperSummary">
      <a:dk1>
        <a:srgbClr val="1F2933"/>
      </a:dk1>
      <a:lt1>
        <a:srgbClr val="FFFFFF"/>
      </a:lt1>
      <a:dk2>
        <a:srgbClr val="0B3C5D"/>
      </a:dk2>
      <a:lt2>
        <a:srgbClr val="EEF3F7"/>
      </a:lt2>
      <a:accent1>
        <a:srgbClr val="1D7874"/>
      </a:accent1>
      <a:accent2>
        <a:srgbClr val="E07A1F"/>
      </a:accent2>
      <a:accent3>
        <a:srgbClr val="3E7CB1"/>
      </a:accent3>
      <a:accent4>
        <a:srgbClr val="6B4E9B"/>
      </a:accent4>
      <a:accent5>
        <a:srgbClr val="B23A48"/>
      </a:accent5>
      <a:accent6>
        <a:srgbClr val="5B8C5A"/>
      </a:accent6>
      <a:hlink>
        <a:srgbClr val="3E7CB1"/>
      </a:hlink>
      <a:folHlink>
        <a:srgbClr val="6B4E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